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47" r:id="rId2"/>
    <p:sldId id="351" r:id="rId3"/>
    <p:sldId id="352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50" r:id="rId12"/>
  </p:sldIdLst>
  <p:sldSz cx="9144000" cy="6858000" type="screen4x3"/>
  <p:notesSz cx="6858000" cy="9144000"/>
  <p:defaultTextStyle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3146" autoAdjust="0"/>
  </p:normalViewPr>
  <p:slideViewPr>
    <p:cSldViewPr>
      <p:cViewPr varScale="1">
        <p:scale>
          <a:sx n="51" d="100"/>
          <a:sy n="51" d="100"/>
        </p:scale>
        <p:origin x="176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68F88C59-319B-4332-9A1D-2A62CFCB00D8}" type="datetimeFigureOut">
              <a:rPr lang="en-US" smtClean="0"/>
              <a:pPr/>
              <a:t>7/30/2020</a:t>
            </a:fld>
            <a:endParaRPr lang="en-US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B16A41B8-7DC3-4DB6-84E4-E105629EAA3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038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  <a:extLst/>
          </a:lstStyle>
          <a:p>
            <a:fld id="{968B300D-05F0-4B43-940D-46DED5A791AD}" type="datetimeFigureOut">
              <a:rPr lang="en-US" smtClean="0"/>
              <a:pPr/>
              <a:t>7/30/2020</a:t>
            </a:fld>
            <a:endParaRPr lang="en-US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  <a:extLst/>
          </a:lstStyle>
          <a:p>
            <a:endParaRPr lang="en-US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  <a:extLst/>
          </a:lstStyle>
          <a:p>
            <a:fld id="{9B26CD33-4337-4529-948A-94F6960B23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635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Managerial decisions</a:t>
            </a:r>
            <a:r>
              <a:rPr lang="en-US" baseline="0" dirty="0"/>
              <a:t> such as player acquisition and strategies in sport do not go unnoticed and the sport consumer considers himself/herself an expert on running the team. </a:t>
            </a:r>
          </a:p>
          <a:p>
            <a:r>
              <a:rPr lang="en-US" baseline="0" dirty="0"/>
              <a:t>Dell computers rarely communicate detailed design and technological information and rarely have radio talk shows devoted to company operations.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Sport participation opportunities</a:t>
            </a:r>
            <a:r>
              <a:rPr lang="en-US" baseline="0" dirty="0"/>
              <a:t> can be determined by the environmental factors such as climate.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Sports are produced and consumed at the same time.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Sport is consumed in the presence of others. Less than 2%</a:t>
            </a:r>
            <a:r>
              <a:rPr lang="en-US" baseline="0" dirty="0"/>
              <a:t> of spectators attend games by themselves.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Sport managers</a:t>
            </a:r>
            <a:r>
              <a:rPr lang="en-US" baseline="0" dirty="0"/>
              <a:t> and coaches can trade, the league control rules and regulations, and athletes get hurt.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Halftime show, pre-game promotion,</a:t>
            </a:r>
            <a:r>
              <a:rPr lang="en-US" baseline="0" dirty="0"/>
              <a:t> music and various activities. </a:t>
            </a:r>
          </a:p>
          <a:p>
            <a:r>
              <a:rPr lang="en-US" dirty="0"/>
              <a:t>Much of the sport experience</a:t>
            </a:r>
            <a:r>
              <a:rPr lang="en-US" baseline="0" dirty="0"/>
              <a:t> involves elements not related to the core product. 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Sport is both a consumer product and an industrial product.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>
              <a:defRPr lang="en-US" dirty="0"/>
            </a:lvl1pPr>
            <a:extLst/>
          </a:lstStyle>
          <a:p>
            <a:r>
              <a:rPr lang="en-US" dirty="0"/>
              <a:t>Click to add photo album title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latinLnBrk="0">
              <a:spcBef>
                <a:spcPct val="20000"/>
              </a:spcBef>
              <a:buFontTx/>
              <a:buNone/>
              <a:defRPr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date and other details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>
              <a:buFontTx/>
              <a:buNone/>
            </a:pPr>
            <a:r>
              <a:rPr lang="en-US" sz="2000"/>
              <a:t>Drag picture to placeholder or click icon to add</a:t>
            </a:r>
            <a:endParaRPr lang="en-US" sz="20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lang="en-US" i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FontTx/>
              <a:buNone/>
            </a:pPr>
            <a:r>
              <a:rPr lang="en-US" sz="240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Drag picture to placeholder or click icon to add</a:t>
            </a:r>
            <a:endParaRPr lang="en-US" i="0"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Portrai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FontTx/>
              <a:buNone/>
            </a:pPr>
            <a:r>
              <a:rPr lang="en-US" i="0"/>
              <a:t>Drag picture to placeholder or click icon to add</a:t>
            </a:r>
            <a:endParaRPr lang="en-US" i="0"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ndscape (Fullscre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lang="en-US" i="0" dirty="0"/>
              <a:t>Click icon</a:t>
            </a:r>
            <a:r>
              <a:rPr lang="en-US" i="0" baseline="0" dirty="0"/>
              <a:t> to add </a:t>
            </a:r>
            <a:r>
              <a:rPr lang="en-US" i="0" dirty="0"/>
              <a:t>full page picture</a:t>
            </a:r>
            <a:endParaRPr lang="en-US" i="0" baseline="0" dirty="0"/>
          </a:p>
          <a:p>
            <a:pPr marL="0" marR="0" indent="0" algn="ctr">
              <a:buFontTx/>
              <a:buNone/>
            </a:pPr>
            <a:endParaRPr lang="en-US" i="0" dirty="0"/>
          </a:p>
          <a:p>
            <a:pPr algn="ctr">
              <a:buFontTx/>
              <a:buNone/>
            </a:pPr>
            <a:endParaRPr lang="en-US" i="0" dirty="0"/>
          </a:p>
          <a:p>
            <a:pPr algn="ctr">
              <a:buFontTx/>
              <a:buNone/>
            </a:pPr>
            <a:endParaRPr lang="en-US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bum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>
              <a:defRPr baseline="0"/>
            </a:lvl1pPr>
            <a:extLst/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>
              <a:buFontTx/>
              <a:buNone/>
              <a:defRPr sz="1800"/>
            </a:lvl1pPr>
            <a:extLst/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>
              <a:buFontTx/>
              <a:buNone/>
            </a:pPr>
            <a:r>
              <a:rPr lang="en-US" sz="2000"/>
              <a:t>Drag picture to placeholder or click icon to add</a:t>
            </a:r>
            <a:endParaRPr lang="en-US" sz="2000"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>
              <a:buFontTx/>
              <a:buNone/>
            </a:pPr>
            <a:r>
              <a:rPr lang="en-US" sz="2000"/>
              <a:t>Drag picture to placeholder or click icon to add</a:t>
            </a:r>
            <a:endParaRPr lang="en-US" sz="2000"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>
              <a:buFontTx/>
              <a:buNone/>
            </a:pPr>
            <a:r>
              <a:rPr lang="en-US" sz="2000"/>
              <a:t>Drag picture to placeholder or click icon to add</a:t>
            </a:r>
            <a:endParaRPr lang="en-US" sz="2000"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FontTx/>
              <a:buNone/>
            </a:pPr>
            <a:r>
              <a:rPr lang="en-US" sz="2400" i="0"/>
              <a:t>Drag picture to placeholder or click icon to add</a:t>
            </a:r>
            <a:endParaRPr lang="en-US" sz="2400" i="0"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FontTx/>
              <a:buNone/>
            </a:pPr>
            <a:r>
              <a:rPr lang="en-US" sz="2400" i="0"/>
              <a:t>Drag picture to placeholder or click icon to add</a:t>
            </a:r>
            <a:endParaRPr lang="en-US" sz="2400" i="0"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Landscape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Mixed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Clr>
                <a:srgbClr val="D34817"/>
              </a:buClr>
              <a:buSzPct val="85000"/>
              <a:buFontTx/>
              <a:buNone/>
            </a:pPr>
            <a:r>
              <a:rPr lang="en-US" i="0"/>
              <a:t>Drag picture to placeholder or click icon to add</a:t>
            </a:r>
            <a:endParaRPr lang="en-US" i="0"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Clr>
                <a:srgbClr val="D34817"/>
              </a:buClr>
              <a:buSzPct val="85000"/>
              <a:buFontTx/>
              <a:buNone/>
            </a:pPr>
            <a:r>
              <a:rPr lang="en-US" i="0"/>
              <a:t>Drag picture to placeholder or click icon to add</a:t>
            </a:r>
            <a:endParaRPr lang="en-US" i="0"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latinLnBrk="0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latinLnBrk="0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latinLnBrk="0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latinLnBrk="0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latinLnBrk="0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rtl="0" latinLnBrk="0">
              <a:spcBef>
                <a:spcPct val="20000"/>
              </a:spcBef>
              <a:buClr>
                <a:srgbClr val="438086"/>
              </a:buClr>
              <a:buSzPct val="60000"/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latinLnBrk="0">
              <a:spcBef>
                <a:spcPct val="20000"/>
              </a:spcBef>
              <a:buFontTx/>
              <a:buNone/>
              <a:defRPr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Up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Clr>
                <a:srgbClr val="D34817"/>
              </a:buClr>
              <a:buSzPct val="85000"/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Clr>
                <a:srgbClr val="D34817"/>
              </a:buClr>
              <a:buSzPct val="85000"/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Clr>
                <a:srgbClr val="D34817"/>
              </a:buClr>
              <a:buSzPct val="85000"/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latinLnBrk="0">
              <a:spcBef>
                <a:spcPct val="20000"/>
              </a:spcBef>
              <a:buFontTx/>
              <a:buNone/>
              <a:defRPr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>
              <a:buFontTx/>
              <a:buNone/>
              <a:defRPr sz="1600" baseline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>
              <a:buFontTx/>
              <a:buNone/>
              <a:defRPr sz="1600" baseline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>
              <a:buFontTx/>
              <a:buNone/>
              <a:defRPr sz="1600" baseline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landscap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>
              <a:buFontTx/>
              <a:buNone/>
              <a:defRPr sz="1600" baseline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>
              <a:buFontTx/>
              <a:buNone/>
              <a:defRPr sz="1600" baseline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>
              <a:buFontTx/>
              <a:buNone/>
              <a:defRPr sz="1600" baseline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>
              <a:buFontTx/>
              <a:buNone/>
              <a:defRPr sz="1600" baseline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 Portrait with Larg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>
              <a:buFontTx/>
              <a:buNone/>
              <a:defRPr sz="2400" baseline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-Up: 1 Portrait with  3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Landscape with 2 Portra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-Up: 3 Portrait with 2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FontTx/>
              <a:buNone/>
            </a:pPr>
            <a:r>
              <a:rPr lang="en-US" sz="2400" i="0"/>
              <a:t>Drag picture to placeholder or click icon to add</a:t>
            </a:r>
            <a:endParaRPr lang="en-US" sz="2400" i="0"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>
              <a:buFontTx/>
              <a:buNone/>
              <a:defRPr sz="1800" i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Up Squa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FontTx/>
              <a:buNone/>
            </a:pPr>
            <a:r>
              <a:rPr lang="en-US" sz="2400" i="0"/>
              <a:t>Drag picture to placeholder or click icon to add</a:t>
            </a:r>
            <a:endParaRPr lang="en-US" sz="2400" i="0"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rtl="0" latinLnBrk="0">
              <a:spcBef>
                <a:spcPct val="20000"/>
              </a:spcBef>
              <a:buFontTx/>
              <a:buNone/>
            </a:pPr>
            <a:r>
              <a:rPr lang="en-US" sz="2400" i="0"/>
              <a:t>Drag picture to placeholder or click icon to add</a:t>
            </a:r>
            <a:endParaRPr lang="en-US" sz="2400" i="0"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>
              <a:buFontTx/>
              <a:buNone/>
              <a:defRPr sz="1800" i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>
              <a:buFontTx/>
              <a:buNone/>
              <a:defRPr sz="1800" i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latinLnBrk="0">
              <a:spcBef>
                <a:spcPct val="20000"/>
              </a:spcBef>
              <a:buFontTx/>
              <a:buNone/>
              <a:defRPr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rtl="0" latinLnBrk="0">
              <a:buFontTx/>
              <a:buNone/>
            </a:pPr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>
              <a:buFontTx/>
              <a:buNone/>
              <a:defRPr sz="1800" i="0"/>
            </a:lvl1pPr>
            <a:extLst/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noProof="1"/>
              <a:t>Click to edit Master title style</a:t>
            </a:r>
            <a:endParaRPr lang="en-US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en-US" smtClean="0"/>
              <a:pPr/>
              <a:t>7/30/2020</a:t>
            </a:fld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 noProof="1"/>
              <a:t>Click to edit Master title style</a:t>
            </a:r>
            <a:endParaRPr lang="en-US" dirty="0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US" dirty="0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lang="en-US" sz="1200" smtClean="0">
                <a:solidFill>
                  <a:schemeClr val="tx2"/>
                </a:solidFill>
              </a:rPr>
              <a:pPr/>
              <a:t>7/30/2020</a:t>
            </a:fld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>
              <a:defRPr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lang="en-US" sz="1200" smtClean="0">
                <a:solidFill>
                  <a:schemeClr val="tx2"/>
                </a:solidFill>
              </a:rPr>
              <a:pPr algn="r"/>
              <a:t>‹#›</a:t>
            </a:fld>
            <a:endParaRPr lang="en-US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1978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Unique Aspects of the Sport 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1600200"/>
            <a:ext cx="762000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Sport organization must compete and cooperate.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48000"/>
            <a:ext cx="3581400" cy="26860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8600" y="1600200"/>
            <a:ext cx="60960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3048000"/>
            <a:ext cx="38735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6839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1978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Unique Aspects of the Sport 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1600200"/>
            <a:ext cx="7620000" cy="6858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Sport consumers are experts.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609600" cy="68580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2</a:t>
            </a:r>
          </a:p>
        </p:txBody>
      </p:sp>
      <p:pic>
        <p:nvPicPr>
          <p:cNvPr id="1026" name="Picture 2" descr="http://prod.images.bills.clubs.nflcdn.com/image-web/NFL/CDA/data/deployed/prod/BILLS/assets/images/imported/BUF/photos/clubimages/2013/01-January/tempAP233395218480_1--nfl_mezz_1280_1024.jpg?width=960&amp;height=7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97" y="2971800"/>
            <a:ext cx="4343400" cy="271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nvestorplace.com/wp-content/uploads/2011/09/dell_computer-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971800"/>
            <a:ext cx="3596504" cy="271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9537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1978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Unique Aspects of the Sport 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1600200"/>
            <a:ext cx="7620000" cy="685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Supply and demand fluctuates.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609600" cy="685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3</a:t>
            </a:r>
          </a:p>
        </p:txBody>
      </p:sp>
      <p:pic>
        <p:nvPicPr>
          <p:cNvPr id="2050" name="Picture 2" descr="http://24.media.tumblr.com/tumblr_ly29fpwnpw1qg6v55o1_5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2819400"/>
            <a:ext cx="4762500" cy="357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0906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1978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Unique Aspects of the Sport 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1600200"/>
            <a:ext cx="7620000" cy="6858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Sport is an intangible product.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609600" cy="6858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4</a:t>
            </a:r>
          </a:p>
        </p:txBody>
      </p:sp>
      <p:pic>
        <p:nvPicPr>
          <p:cNvPr id="3074" name="Picture 2" descr="http://www3.pcmag.com/media/images/327691-texting-while-driving.jpg?thumb=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911112"/>
            <a:ext cx="3594463" cy="3594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0906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1978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Unique Aspects of the Sport 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1600200"/>
            <a:ext cx="7620000" cy="6858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Sports are produced and consumed at the same time.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609600" cy="68580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5</a:t>
            </a:r>
          </a:p>
        </p:txBody>
      </p:sp>
      <p:pic>
        <p:nvPicPr>
          <p:cNvPr id="4100" name="Picture 4" descr="http://www3.pictures.gi.zimbio.com/Olympics+Day+14+Athletics+7vT-0ofKuKq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449286"/>
            <a:ext cx="5657850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0906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1978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Unique Aspects of the Sport 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1600200"/>
            <a:ext cx="7620000" cy="68580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Social facilitation via sport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609600" cy="6858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6</a:t>
            </a:r>
          </a:p>
        </p:txBody>
      </p:sp>
      <p:pic>
        <p:nvPicPr>
          <p:cNvPr id="5122" name="Picture 2" descr="http://www.prestigelimo-of-wny.com/Personal/images/Sporting_Ev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971800"/>
            <a:ext cx="481263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699069" y="4092714"/>
            <a:ext cx="205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2%</a:t>
            </a:r>
          </a:p>
        </p:txBody>
      </p:sp>
    </p:spTree>
    <p:extLst>
      <p:ext uri="{BB962C8B-B14F-4D97-AF65-F5344CB8AC3E}">
        <p14:creationId xmlns:p14="http://schemas.microsoft.com/office/powerpoint/2010/main" val="4710906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1978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Unique Aspects of the Sport 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1600200"/>
            <a:ext cx="7620000" cy="6858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Inconsistent nature of the product (outcome uncertainty).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609600" cy="68580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7</a:t>
            </a:r>
          </a:p>
        </p:txBody>
      </p:sp>
      <p:pic>
        <p:nvPicPr>
          <p:cNvPr id="6146" name="Picture 2" descr="http://energy.gov/sites/prod/files/styles/article_hero/public/computer%20tablet%20phone_0.jpg?itok=y-YvwQF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95600"/>
            <a:ext cx="3548063" cy="231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://paulmullins.files.wordpress.com/2013/06/mcdonalds_scoobyfoo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895600"/>
            <a:ext cx="4572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https://lh6.ggpht.com/K_ysj45Yql23f4UWudbR0y4rcPCviCDfE0JDYKCi07U4oiNqQ1_oec3st-4qbTxEtwo=h900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072"/>
          <a:stretch/>
        </p:blipFill>
        <p:spPr bwMode="auto">
          <a:xfrm>
            <a:off x="2161371" y="3505200"/>
            <a:ext cx="4252492" cy="304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0906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1978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Unique Aspects of the Sport 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1600200"/>
            <a:ext cx="762000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Lack of control over the core product.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609600" cy="685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8</a:t>
            </a:r>
          </a:p>
        </p:txBody>
      </p:sp>
      <p:pic>
        <p:nvPicPr>
          <p:cNvPr id="7170" name="Picture 2" descr="http://blog.drstankovich.com/files/2012/12/coach_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200400"/>
            <a:ext cx="3505200" cy="2558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www.thesportinmind.com/wp-content/uploads/2013/05/Injury-STACK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836" y="3200400"/>
            <a:ext cx="4303888" cy="2558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743200"/>
            <a:ext cx="3726180" cy="3726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10906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1978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Unique Aspects of the Sport 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1600200"/>
            <a:ext cx="7620000" cy="685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Reliance on product extensions.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609600" cy="685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</a:rPr>
              <a:t>9</a:t>
            </a:r>
          </a:p>
        </p:txBody>
      </p:sp>
      <p:pic>
        <p:nvPicPr>
          <p:cNvPr id="8194" name="Picture 2" descr="http://www.empowernetwork.com/workwithmorgan/files/2013/02/beyonce-super-bowl-halftime-show_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154" y="3124200"/>
            <a:ext cx="4572000" cy="324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://thetangential.com/wp-content/uploads/2012/02/Madonna-Super-Bowl-Halftime-Show-Picture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667000"/>
            <a:ext cx="386715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0906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61978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Unique Aspects of the Sport 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1600200"/>
            <a:ext cx="7620000" cy="6858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Consumer vs. industrial nature of sport 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609600" cy="68580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10</a:t>
            </a:r>
          </a:p>
        </p:txBody>
      </p:sp>
      <p:pic>
        <p:nvPicPr>
          <p:cNvPr id="9218" name="Picture 2" descr="http://site.gettyimages.com/sponsorship/sport/static/img/sport/case_study/european_tour/large/10714073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23" y="3296412"/>
            <a:ext cx="4419600" cy="295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://slingshotsponsorship.com/wp-content/uploads/2012/12/arsenalcelebrat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455" y="3296412"/>
            <a:ext cx="4435943" cy="295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9618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2743200"/>
            <a:ext cx="670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34678975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 Photo 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Photo Album.potx</Template>
  <TotalTime>0</TotalTime>
  <Words>319</Words>
  <Application>Microsoft Office PowerPoint</Application>
  <PresentationFormat>On-screen Show (4:3)</PresentationFormat>
  <Paragraphs>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Century Schoolbook</vt:lpstr>
      <vt:lpstr>Classic Photo Album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2010-02-01T21:16:09Z</dcterms:created>
  <dcterms:modified xsi:type="dcterms:W3CDTF">2020-07-30T13:33:58Z</dcterms:modified>
</cp:coreProperties>
</file>